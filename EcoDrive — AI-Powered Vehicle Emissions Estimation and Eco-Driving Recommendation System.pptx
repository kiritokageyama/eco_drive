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6256000" cy="9144000"/>
  <p:notesSz cx="9144000" cy="16256000"/>
  <p:embeddedFontLst>
    <p:embeddedFont>
      <p:font typeface="Quattrocento Sans" panose="020B0502050000020003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15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(g/km)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Swift Urban AC</c:v>
                </c:pt>
                <c:pt idx="1">
                  <c:v>Swift Low Tr.</c:v>
                </c:pt>
                <c:pt idx="2">
                  <c:v>XUV700 Hwy</c:v>
                </c:pt>
                <c:pt idx="3">
                  <c:v>Nexon EV</c:v>
                </c:pt>
                <c:pt idx="4">
                  <c:v>City CNG</c:v>
                </c:pt>
                <c:pt idx="5">
                  <c:v>SUV Hilly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151.69999999999999</c:v>
                </c:pt>
                <c:pt idx="1">
                  <c:v>109.2</c:v>
                </c:pt>
                <c:pt idx="2">
                  <c:v>124.8</c:v>
                </c:pt>
                <c:pt idx="3">
                  <c:v>143.5</c:v>
                </c:pt>
                <c:pt idx="4">
                  <c:v>147.30000000000001</c:v>
                </c:pt>
                <c:pt idx="5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B-45E8-84C1-9A5A6220E2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g/km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04-4526-AD7A-CDBEF949FE9F}"/>
              </c:ext>
            </c:extLst>
          </c:dPt>
          <c:dPt>
            <c:idx val="1"/>
            <c:bubble3D val="0"/>
            <c:spPr>
              <a:solidFill>
                <a:srgbClr val="2E7D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04-4526-AD7A-CDBEF949FE9F}"/>
              </c:ext>
            </c:extLst>
          </c:dPt>
          <c:dPt>
            <c:idx val="2"/>
            <c:bubble3D val="0"/>
            <c:spPr>
              <a:solidFill>
                <a:srgbClr val="4A7C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04-4526-AD7A-CDBEF949FE9F}"/>
              </c:ext>
            </c:extLst>
          </c:dPt>
          <c:dPt>
            <c:idx val="3"/>
            <c:bubble3D val="0"/>
            <c:spPr>
              <a:solidFill>
                <a:srgbClr val="8B6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04-4526-AD7A-CDBEF949FE9F}"/>
              </c:ext>
            </c:extLst>
          </c:dPt>
          <c:dPt>
            <c:idx val="4"/>
            <c:bubble3D val="0"/>
            <c:spPr>
              <a:solidFill>
                <a:srgbClr val="6B8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04-4526-AD7A-CDBEF949FE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04-4526-AD7A-CDBEF949FE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04-4526-AD7A-CDBEF949FE9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04-4526-AD7A-CDBEF949FE9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C04-4526-AD7A-CDBEF949FE9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C04-4526-AD7A-CDBEF949FE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Traffic congestion</c:v>
                </c:pt>
                <c:pt idx="1">
                  <c:v>Driving behaviour</c:v>
                </c:pt>
                <c:pt idx="2">
                  <c:v>Speed selection</c:v>
                </c:pt>
                <c:pt idx="3">
                  <c:v>AC usage</c:v>
                </c:pt>
                <c:pt idx="4">
                  <c:v>Terrain/grade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04-4526-AD7A-CDBEF949F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11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2_Electric_car_and_ev_car_charging.png"/>
          <p:cNvPicPr>
            <a:picLocks noChangeAspect="1"/>
          </p:cNvPicPr>
          <p:nvPr/>
        </p:nvPicPr>
        <p:blipFill>
          <a:blip r:embed="rId3"/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5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540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kern="0" spc="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EcoDrive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778000" y="3683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Vehicle Emissions Estimation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Eco-Driving Recommendation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953000"/>
            <a:ext cx="2540000" cy="254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5334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B.Tech Final Year Project Report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&amp; Engineering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Uttarakhand Technical University, Dehradun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2025–2026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kern="0" spc="200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1016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Background, Motivation &amp;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159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984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Analysis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Systems &amp; Gap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2159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7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76000" y="2984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Model &amp; Tech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445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457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27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Engine, ML &amp; Dual-LLM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4445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457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0" y="527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Validation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Emission Estimates &amp; Sensitivity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4445000"/>
            <a:ext cx="4572000" cy="177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0" y="457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76000" y="527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Limitations, Future Scope &amp; References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5_Official_website_of_Veer_Madho_Singh.png"/>
          <p:cNvPicPr>
            <a:picLocks noChangeAspect="1"/>
          </p:cNvPicPr>
          <p:nvPr/>
        </p:nvPicPr>
        <p:blipFill>
          <a:blip r:embed="rId3"/>
          <a:srcRect l="14831" r="148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533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Background, Motivation, Problem Statement &amp; Objectives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24000"/>
            <a:ext cx="7112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Challenge: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India has </a:t>
            </a:r>
            <a:r>
              <a:rPr lang="en-US" sz="18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320M+ registered vehicles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world's 3rd largest automobile fleet. Road transport accounts for </a:t>
            </a:r>
            <a:r>
              <a:rPr lang="en-US" sz="18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12–15%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national CO₂ emissions.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Cities like Delhi, Bengaluru, Pune, and Dehradun consistently rank among the </a:t>
            </a: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polluted globally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with vehicular exhaust as the primary cause.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Gap: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Individual vehicle owners have </a:t>
            </a: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accessible tool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quantify real-time environmental cost of trips. Existing solutions use static averages or are locked in research platforms.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82000" y="1524000"/>
            <a:ext cx="7112000" cy="4064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Text 6"/>
          <p:cNvSpPr/>
          <p:nvPr/>
        </p:nvSpPr>
        <p:spPr>
          <a:xfrm>
            <a:off x="8636000" y="1714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EcoDrive's Solution: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Embeds a </a:t>
            </a: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rigorous vehicle dynamics physics engine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within a mobile application, enabling: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Personalised, </a:t>
            </a: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trip-level emission computation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On-device AI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offline eco-driving advice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GPS, weather, and traffic fusion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Monte Carlo </a:t>
            </a: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uncertainty quantification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Target:</a:t>
            </a: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Indian semi-urban and rural driving contexts where connectivity is limited.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5969000"/>
            <a:ext cx="14732000" cy="1270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6096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320M+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Registered Vehicles (India)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6096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12–15%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CO₂ from Transport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0" y="6096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Fuel Types Supported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684000" y="6096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100+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Vehicles in Dataset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CPCB Annual Report 2023; SIAM 2024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Critical 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1968500"/>
            <a:ext cx="7112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emission factors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uniform kg CO₂/km, ignoring speed, acceleration, terrain, AC load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real-time telemetry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weather/traffic models require server-side computation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uncertainty quantification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deterministic models give single point estimates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multi-fuel support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most tools cover only petrol, neglecting CNG, Diesel, EV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AI-driven personalisation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LLM-based context-sensitive driving advice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 Project Objectives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1968500"/>
            <a:ext cx="7112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Physics engine for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fuel types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(Petrol, Diesel, CNG, EV)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Monte Carlo simulation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(N=50) for 90% confidence intervals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Real-time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GPS + weather + traffic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telemetry fusion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Dual-LLM architecture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(on-device MediaPipe + cloud fallback)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Multi-route CO₂ comparison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OSRM alternative routing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Room SQLite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persistence with trip history &amp; PDF reports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7.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Android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 24+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 for maximum accessibility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2000" y="6350000"/>
            <a:ext cx="14732000" cy="1524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2000" y="6350000"/>
            <a:ext cx="76200" cy="1524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64770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Innovation: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EcoDrive solves all five limitations within a single integrated Android application — the first consumer-facing tool to combine </a:t>
            </a: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physics-grounded emission modelling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uncertainty quantification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on-device AI coaching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Indian automotive context.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1 — Introduction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1_62_590_Futuristic_Environment_Green.png"/>
          <p:cNvPicPr>
            <a:picLocks noChangeAspect="1"/>
          </p:cNvPicPr>
          <p:nvPr/>
        </p:nvPicPr>
        <p:blipFill>
          <a:blip r:embed="rId3"/>
          <a:srcRect l="8929" r="8929" b="6666"/>
          <a:stretch>
            <a:fillRect/>
          </a:stretch>
        </p:blipFill>
        <p:spPr>
          <a:xfrm>
            <a:off x="0" y="304800"/>
            <a:ext cx="16256000" cy="853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533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Systems and Comparative Gap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ANALYSIS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Existing Systems &amp; Comparative Analysis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334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 / 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Limitation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EcoDrive's Resolution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VAHAN Dashboard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Fleet aggregate only; no individual or trip-level estimation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 trip-level physics model; individual driver focus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 Maps Eco Mode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Opaque model; no CO₂ output; no vehicle parameters; proprietary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Transparent physics equations; numerical CO₂ output; 90% CI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COPERT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Desktop only; no real-time data; inaccessible to consumers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Native Android; 5-API real-time fusion; consumer-friendly UI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OBD-II Apps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Hardware dongle required (INR 800–2,500); pre-2010 incompatible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Software-only; GPS + weather + physics; zero hardware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Generic Calculators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point estimate; no physics; no uncertainty; no 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Monte Carlo CI; full physics; Dual-LLM AI coaching; open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 Differentiator: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existing tools lack </a:t>
            </a:r>
            <a:r>
              <a:rPr lang="en-US" sz="1600" dirty="0">
                <a:solidFill>
                  <a:srgbClr val="2E7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India-specific factors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EcoDrive is calibrated to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BS-VI standards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uses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CPCB emission factors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includes a dataset of </a:t>
            </a: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100+ Indian vehicles</a:t>
            </a: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making it the first emission estimation tool purpose-built for the Indian automotive context.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2 — System Analysis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3_143_603_Green_Technology_Background.png"/>
          <p:cNvPicPr>
            <a:picLocks noChangeAspect="1"/>
          </p:cNvPicPr>
          <p:nvPr/>
        </p:nvPicPr>
        <p:blipFill>
          <a:blip r:embed="rId3"/>
          <a:srcRect l="8443" r="12676" b="6666"/>
          <a:stretch>
            <a:fillRect/>
          </a:stretch>
        </p:blipFill>
        <p:spPr>
          <a:xfrm>
            <a:off x="129540" y="304800"/>
            <a:ext cx="15996920" cy="853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533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Computational Model, Data Flow &amp; Technology Stack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DESIGN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Six-Layer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1968500"/>
            <a:ext cx="2413000" cy="762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19685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/ Activities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29000" y="1968500"/>
            <a:ext cx="2413000" cy="7620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9685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/ Tracking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96000" y="1968500"/>
            <a:ext cx="2413000" cy="762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0" y="19685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/ ML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Dual-LLM / Models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763000" y="1968500"/>
            <a:ext cx="2413000" cy="7620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2"/>
          <p:cNvSpPr/>
          <p:nvPr/>
        </p:nvSpPr>
        <p:spPr>
          <a:xfrm>
            <a:off x="8763000" y="19685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Engine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 Core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430000" y="1968500"/>
            <a:ext cx="1905000" cy="762000"/>
          </a:xfrm>
          <a:prstGeom prst="rect">
            <a:avLst/>
          </a:prstGeom>
          <a:solidFill>
            <a:srgbClr val="6B8E6B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0" y="19685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/ SQLite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3589000" y="1968500"/>
            <a:ext cx="1905000" cy="762000"/>
          </a:xfrm>
          <a:prstGeom prst="rect">
            <a:avLst/>
          </a:prstGeom>
          <a:solidFill>
            <a:srgbClr val="5A6B7C"/>
          </a:solidFill>
          <a:ln/>
        </p:spPr>
      </p:sp>
      <p:sp>
        <p:nvSpPr>
          <p:cNvPr id="19" name="Text 16"/>
          <p:cNvSpPr/>
          <p:nvPr/>
        </p:nvSpPr>
        <p:spPr>
          <a:xfrm>
            <a:off x="13589000" y="19685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APIs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Free Services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304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Flow (14 Steps)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35560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1–2.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inputs vehicle → Auto-geocode via Nominatim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3–4.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Weather fetch (Open-Meteo) → Elevation fetch (3-point gradient)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5–6.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 fetch (OSRM) → Overpass road context (200m bbox)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Physics Engine: N=50 Monte Carlo iterations; stochastic perturbations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ML Fusion: Φ_driving, terrain multiplier, AC factor, traffic idle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Statistics: mean CO₂, 5th/95th percentile bounds, mean fuel/energy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Insights: rule-based on-device evidence engine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2000" y="35560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 Ranking: OSRM alternatives → physics+ML per route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 Analysis: per-leg terrain, road type, speed limit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Visualisation: BarChart (CO₂ breakdown) + PieChart (energy share)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14.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Persistence: Room DB → TripEntity with all metrics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 CO₂ + 90% CI, fuel/energy estimates, AI recommendations, route comparison, PDF report generation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Choice: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core APIs are free/open-source — zero variable cost for deployment at scale.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3 — System Design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DESIGN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Three-Layer Computational Model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1524000"/>
            <a:ext cx="4572000" cy="3302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165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1: Physics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20955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vehicle dynamics based on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Newton's 2nd law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Rolling resistance: m × g × C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Aerodynamic drag: 0.5 × ρ × A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C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v²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Grade resistance: m × g × sin(θ)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Inertial force: m × a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Carlo: N=50 stochastic iterations over speed, headwind, gradient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0" y="1524000"/>
            <a:ext cx="4572000" cy="3048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0" y="165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2: ML Telemetry Fusion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0" y="20955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telemetry-derived adjustments: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Φ</a:t>
            </a:r>
            <a:r>
              <a:rPr lang="en-US" sz="13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driving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behaviour coefficient from acceleration &amp; jerk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r>
              <a:rPr lang="en-US" sz="13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terrain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gradient multiplier (1.00–1.12)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3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 thermal penalty (0.85 when on)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</a:t>
            </a:r>
            <a:r>
              <a:rPr lang="en-US" sz="13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idle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traffic congestion idle emissions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(CO₂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Φ × k) / F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CO₂</a:t>
            </a:r>
            <a:r>
              <a:rPr lang="en-US" sz="13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22000" y="1524000"/>
            <a:ext cx="4572000" cy="33020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4" name="Text 11"/>
          <p:cNvSpPr/>
          <p:nvPr/>
        </p:nvSpPr>
        <p:spPr>
          <a:xfrm>
            <a:off x="11176000" y="165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3: AI Recommendations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76000" y="2095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 — On-Device LLM: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MediaPipe GenAI (Gemma 3/4, Phi-2, Falcon 7B)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Offline, zero data tx, sub-second latency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2 — Cloud Fallback: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1.5 Flash / Claude 3 Sonnet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AES-encrypted API keys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 — AutonomousAgent: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personalised telemetry reports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4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10414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</p:sp>
      <p:sp>
        <p:nvSpPr>
          <p:cNvPr id="18" name="Text 15"/>
          <p:cNvSpPr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Use Cases (12 Primary)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5461000"/>
            <a:ext cx="1473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UC-01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Vehicle (100+ Indian models)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UC-02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Auto-Fetch Telemetry (5 APIs)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UC-03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Estimate CO₂ (Physics + ML)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UC-04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Live GPS Tracking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UC-05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 Eco Routes (OSRM)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UC-06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Analyse Route Segments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UC-07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Sensitivity Study (2,000 MC iterations)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UC-08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Chat (8 models)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UC-09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Weekly AI Agent Report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UC-10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 / History (Room DB)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UC-11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Download On-Device LLM |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UC-12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Export PDF Report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core functionality uses exclusively free, open-source APIs — zero variable cost for deployment.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3 — System Design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DESIGN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Technology Stack &amp; APIs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095999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1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 / Library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 / Notes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Language / SDK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8 + Android SDK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 Level 24–34 (Android 7.0+), Gradle 8.13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 Framework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Material Design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AppCompat, ConstraintLayout, CoordinatorLayout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Mapping / Routing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osmdroid 6.1.18 + OSRM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OpenStreetMap tiles; polyline overlays; free routing API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Weather / Elevation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Open-Meteo + Open Elevation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WMO weather codes, temp, wind, humidity; 3-point terrain gradient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Road Context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Overpass API (OSM)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200m bounding-box query: highway type, landuse, traffic signals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MPAndroidChart v3.1.0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Bar + Pie charts for emissions and energy breakdown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On-Device 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MediaPipe GenAI 0.10.20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 3/4, Phi-2, Falcon 7B — INT4 quantised .task/.bin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 AI (opt.)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 Gemini / Anthropic Claude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gemini-1.5-flash; claude-3-sonnet; AES-encrypted API keys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Database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Room 2.6.1 (SQLite)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TripEntity, TripDao — async queries; history by Today/Week/Month/All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1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AES Encryption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SecurityManager: all API keys encrypted in SharedPreferences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3 — System Design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2_Eco_driving_measures_could_significantly.pn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533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Engine, ML Fusion Layer, Dual-LLM Architecture &amp; UI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IMPLEMENTATION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Physics Engine &amp; ML Fusion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 Model &amp; Energy Computation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1968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F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F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v × t (Joules)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Fuel energy = E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η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Powertrain-specific CO₂ computation: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Petrol: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32 MJ/L → 2.31 kg CO₂/L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Diesel: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36 MJ/L → 2.68 kg CO₂/L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CNG: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47.7 MJ/kg → 2.75 kg CO₂/kg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0.716 kg CO₂/kWh (Indian grid)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Telemetry Adjustments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1968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Driving Behaviour Coefficient: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λ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0.05 + min(Δv/10.0, 0.10)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Φ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driving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1.0 + (λ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Δv) + λ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jerk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 Thermal Penalty: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0.85 (when AC on)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Terrain Multipliers (k</a:t>
            </a: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terrain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Plains 1.00 | Arterial 1.01 | Urban 1.03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Hills 1.06 | Hilly/Mountain 1.12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Final: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CO₂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(CO₂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Φ × k) / F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CO₂</a:t>
            </a: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5588000"/>
            <a:ext cx="14732000" cy="1524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2000" y="5588000"/>
            <a:ext cx="76200" cy="1524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57150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Monte Carlo Simulation: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 = 50 iterations per estimation, with stochastic perturbations over speed fluctuation, headwind, and road gradient variance. Results sorted to produce </a:t>
            </a: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CO₂, 5th-percentile lower bound, and 95th-percentile upper bound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yielding a statistically valid 90% confidence interval that distinguishes EcoDrive from simplistic point-estimate calculators.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4 — Implementation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IMPLEMENTATION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Dual-LLM Architecture &amp; Application UI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1524000"/>
            <a:ext cx="4572000" cy="2476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165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1: On-Device LLM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20574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MediaPipe GenAI 0.10.20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Gemma 3 1B/4B, Gemma 4 E2B/E4B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Phi-2, Falcon 7B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zero data transmission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Sub-second response latency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528 MB model size (INT4)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0" y="1524000"/>
            <a:ext cx="4572000" cy="24765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0" y="165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2: Cloud Fallback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0" y="20574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Google Gemini 1.5 Flash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Anthropic Claude 3 Sonnet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User-configurable preference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AES-encrypted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 key storage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Triggered on low-confidence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High-capability responses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22000" y="1524000"/>
            <a:ext cx="4572000" cy="24765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4" name="Text 11"/>
          <p:cNvSpPr/>
          <p:nvPr/>
        </p:nvSpPr>
        <p:spPr>
          <a:xfrm>
            <a:off x="11176000" y="1651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3: AutonomousAgent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76000" y="20574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Weekly personalised reports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Comprehensive telemetry analysis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Structured [CONFIDENCE: N] score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Driving pattern insights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Actionable recommendations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Powered by DualLLMRouter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4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10414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arrow"/>
          </a:ln>
        </p:spPr>
      </p:sp>
      <p:pic>
        <p:nvPicPr>
          <p:cNvPr id="18" name="Image 1" descr="https://kimi-img.moonshot.cn/pub/slides/okc/3gey7vu6dyf62/mnt/agents/upload/Screenshot_20260505_111023.jpg.jpeg"/>
          <p:cNvPicPr>
            <a:picLocks noChangeAspect="1"/>
          </p:cNvPicPr>
          <p:nvPr/>
        </p:nvPicPr>
        <p:blipFill>
          <a:blip r:embed="rId3"/>
          <a:srcRect t="27273" b="27273"/>
          <a:stretch/>
        </p:blipFill>
        <p:spPr>
          <a:xfrm>
            <a:off x="762000" y="406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19" name="Image 2" descr="https://kimi-img.moonshot.cn/pub/slides/okc/3gey7vu6dyf62/mnt/agents/upload/Screenshot_20260505_111755.jpg.jpeg"/>
          <p:cNvPicPr>
            <a:picLocks noChangeAspect="1"/>
          </p:cNvPicPr>
          <p:nvPr/>
        </p:nvPicPr>
        <p:blipFill>
          <a:blip r:embed="rId4"/>
          <a:srcRect t="27273" b="27273"/>
          <a:stretch/>
        </p:blipFill>
        <p:spPr>
          <a:xfrm>
            <a:off x="4572000" y="406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20" name="Image 3" descr="https://kimi-img.moonshot.cn/pub/slides/okc/3gey7vu6dyf62/mnt/agents/upload/Screenshot_2026_0505_112439.jpg.jpeg"/>
          <p:cNvPicPr>
            <a:picLocks noChangeAspect="1"/>
          </p:cNvPicPr>
          <p:nvPr/>
        </p:nvPicPr>
        <p:blipFill>
          <a:blip r:embed="rId5"/>
          <a:srcRect t="36369" b="36369"/>
          <a:stretch/>
        </p:blipFill>
        <p:spPr>
          <a:xfrm>
            <a:off x="8382000" y="406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21" name="Image 4" descr="https://kimi-img.moonshot.cn/pub/slides/okc/3gey7vu6dyf62/mnt/agents/upload/Screenshot_20260505_112553.jpg.jpeg"/>
          <p:cNvPicPr>
            <a:picLocks noChangeAspect="1"/>
          </p:cNvPicPr>
          <p:nvPr/>
        </p:nvPicPr>
        <p:blipFill>
          <a:blip r:embed="rId6"/>
          <a:srcRect t="25524" b="25524"/>
          <a:stretch/>
        </p:blipFill>
        <p:spPr>
          <a:xfrm>
            <a:off x="12192000" y="4064000"/>
            <a:ext cx="3302000" cy="3556000"/>
          </a:xfrm>
          <a:prstGeom prst="roundRect">
            <a:avLst>
              <a:gd name="adj" fmla="val 5000"/>
            </a:avLst>
          </a:prstGeom>
        </p:spPr>
      </p:pic>
      <p:sp>
        <p:nvSpPr>
          <p:cNvPr id="22" name="Text 15"/>
          <p:cNvSpPr/>
          <p:nvPr/>
        </p:nvSpPr>
        <p:spPr>
          <a:xfrm>
            <a:off x="762000" y="774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&amp; CO₂ Calculator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72000" y="774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CO₂ Comparator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382000" y="774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Sensitivity Analysis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2192000" y="7747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Settings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4 — Implementation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1_62_590_Futuristic_Environment_Green.png"/>
          <p:cNvPicPr>
            <a:picLocks noChangeAspect="1"/>
          </p:cNvPicPr>
          <p:nvPr/>
        </p:nvPicPr>
        <p:blipFill>
          <a:blip r:embed="rId3"/>
          <a:srcRect l="8929" t="2778" r="8929" b="6452"/>
          <a:stretch>
            <a:fillRect/>
          </a:stretch>
        </p:blipFill>
        <p:spPr>
          <a:xfrm>
            <a:off x="-39077" y="422031"/>
            <a:ext cx="16256000" cy="82999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9077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VALIDATION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533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Validation, Emission Estimates &amp; Sensitivity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RESULTS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Emission Estimation Results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318001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Vehicle / Fuel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Scenario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 CO₂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 Fuel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90% CI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g/km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Maruti Swift (Petrol 1.2L)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 km Urban, High traffic, AC 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1.82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 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[1.65, 2.01]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151.7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Maruti Swift (Petrol 1.2L)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 km Urban, Low traffic, AC Off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1.31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0.45 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[1.19, 1.44]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109.2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Mahindra XUV700 (Diesel 2.2L)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 km Highway, AC 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3.12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1.16 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[2.90, 3.35]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124.8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Tata Nexon EV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 km Urban, AC 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2.87 kg*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N/A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[2.51, 3.24]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143.5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Honda City CNG (1.5L)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 km Rolling terrain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2.21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[2.05, 2.38]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147.3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Generic Petrol SUV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km Hilly, Aggressive driving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2.48 kg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1.07 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[2.18, 2.78]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248.0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5905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EV CO₂ represents grid electricity carbon (0.716 kg/kWh Indian grid), not tailpipe emissions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62000" y="6350000"/>
          <a:ext cx="7112000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8382000" y="6350000"/>
            <a:ext cx="7112000" cy="2413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382000" y="6223000"/>
            <a:ext cx="76200" cy="2413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2" name="Text 7"/>
          <p:cNvSpPr/>
          <p:nvPr/>
        </p:nvSpPr>
        <p:spPr>
          <a:xfrm>
            <a:off x="8763000" y="6350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Summary: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Tested on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iQOO 13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(Snapdragon 8 Elite, 16 GB RAM, Android 15)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Estimates consistent with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CPCB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ARAI BS-VI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benchmarks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Offline functionality verified (physics + on-device AI)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4G LTE network tests for OSRM and Open-Meteo confirmed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CI provides honest uncertainty representation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5 — Results &amp; Validation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RESULTS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Monte Carlo Sensitivity Analysis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3771898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08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 Tested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Finding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Sensitivity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10–120 km/h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U-shaped; min at 60–70 km/h; drag ∝ v² above 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Acceleration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0.0–4.0 m/s²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&gt;2 m/s² increases CO₂ by 15–25%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Traffic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0.0–1.0 ratio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Fully congested adds ~40–60% idle emissions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 Activation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 / Off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~15–18% CO₂ increase; larger at low speeds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B691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Terrain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Plains → Hilly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Hilly adds 12% over plains baseline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B691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80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Air Density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0.9–1.3 kg/m³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±5% variation; significant at high speeds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5A6B7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Low–Med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160000" y="1524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 Contribution Breakdown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10160000" y="20320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solidFill>
            <a:srgbClr val="F0F2F5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62000" y="6223000"/>
            <a:ext cx="76200" cy="10160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12" name="Text 7"/>
          <p:cNvSpPr/>
          <p:nvPr/>
        </p:nvSpPr>
        <p:spPr>
          <a:xfrm>
            <a:off x="1143000" y="635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congestion (~30%) and driving behaviour (~25%) together account for over half of emission variance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making them the highest-impact targets for eco-driving interventions. Speed selection (~20%) shows the U-shaped efficiency curve with optimal band at 60–70 km/h.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5 — Results &amp; Validation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RESULTS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Dashboard &amp; AI Insights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pic>
        <p:nvPicPr>
          <p:cNvPr id="7" name="Image 1" descr="https://kimi-img.moonshot.cn/pub/slides/okc/3gey7vu6dyf62/mnt/agents/upload/Screenshot_2026_0505_103559.jpg.jpeg"/>
          <p:cNvPicPr>
            <a:picLocks noChangeAspect="1"/>
          </p:cNvPicPr>
          <p:nvPr/>
        </p:nvPicPr>
        <p:blipFill>
          <a:blip r:embed="rId3"/>
          <a:srcRect t="43995" b="43995"/>
          <a:stretch/>
        </p:blipFill>
        <p:spPr>
          <a:xfrm>
            <a:off x="762000" y="152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8" name="Image 2" descr="https://kimi-img.moonshot.cn/pub/slides/okc/3gey7vu6dyf62/mnt/agents/upload/Screenshot_2026_0505_112107.jpg.jpeg"/>
          <p:cNvPicPr>
            <a:picLocks noChangeAspect="1"/>
          </p:cNvPicPr>
          <p:nvPr/>
        </p:nvPicPr>
        <p:blipFill>
          <a:blip r:embed="rId4"/>
          <a:srcRect t="43416" b="43416"/>
          <a:stretch/>
        </p:blipFill>
        <p:spPr>
          <a:xfrm>
            <a:off x="4572000" y="152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9" name="Image 3" descr="https://kimi-img.moonshot.cn/pub/slides/okc/3gey7vu6dyf62/mnt/agents/upload/Screenshot_2026_0505_112350.jpg.jpeg"/>
          <p:cNvPicPr>
            <a:picLocks noChangeAspect="1"/>
          </p:cNvPicPr>
          <p:nvPr/>
        </p:nvPicPr>
        <p:blipFill>
          <a:blip r:embed="rId5"/>
          <a:srcRect t="44298" b="44298"/>
          <a:stretch/>
        </p:blipFill>
        <p:spPr>
          <a:xfrm>
            <a:off x="8382000" y="1524000"/>
            <a:ext cx="3556000" cy="3556000"/>
          </a:xfrm>
          <a:prstGeom prst="roundRect">
            <a:avLst>
              <a:gd name="adj" fmla="val 5000"/>
            </a:avLst>
          </a:prstGeom>
        </p:spPr>
      </p:pic>
      <p:pic>
        <p:nvPicPr>
          <p:cNvPr id="10" name="Image 4" descr="https://kimi-img.moonshot.cn/pub/slides/okc/3gey7vu6dyf62/mnt/agents/upload/Screenshot_2026_0505_112544.jpg.jpeg"/>
          <p:cNvPicPr>
            <a:picLocks noChangeAspect="1"/>
          </p:cNvPicPr>
          <p:nvPr/>
        </p:nvPicPr>
        <p:blipFill>
          <a:blip r:embed="rId6"/>
          <a:srcRect t="43191" b="43191"/>
          <a:stretch/>
        </p:blipFill>
        <p:spPr>
          <a:xfrm>
            <a:off x="12192000" y="1524000"/>
            <a:ext cx="3302000" cy="3556000"/>
          </a:xfrm>
          <a:prstGeom prst="roundRect">
            <a:avLst>
              <a:gd name="adj" fmla="val 5000"/>
            </a:avLst>
          </a:prstGeom>
        </p:spPr>
      </p:pic>
      <p:sp>
        <p:nvSpPr>
          <p:cNvPr id="11" name="Text 4"/>
          <p:cNvSpPr/>
          <p:nvPr/>
        </p:nvSpPr>
        <p:spPr>
          <a:xfrm>
            <a:off x="762000" y="520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EcoDrive Core — Trip Estimation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572000" y="520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AI Telemetry Report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8382000" y="52070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All-Time Emissions Dashboard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2192000" y="5207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Eco-Assistant AI Chat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762000" y="57150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Features: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CO₂ Footprint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trip-level and all-time aggregation with emission breakdown pie chart (core physics vs. context penalty)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Emissions Over Time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bar chart tracking trends across Today / Week / Month / All tabs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AI Insight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weekly personalised telemetry report with driving pattern analysis, terrain context, and 5 actionable recommendations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Eco-Assistant Chat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natural language Q&amp;A for eco-driving advice, route optimisation, and personalised insights (on-device + cloud fallback)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GPS Tracking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speed, route polyline on OpenStreetMap, background foreground service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Settings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cloud AI key management, on-device model download (Gemma/Phi-2/Falcon), place learning toggle, PDF/CSV export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5 — Results &amp; Validation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5_Official_website_of_Veer_Madho_Singh.png"/>
          <p:cNvPicPr>
            <a:picLocks noChangeAspect="1"/>
          </p:cNvPicPr>
          <p:nvPr/>
        </p:nvPicPr>
        <p:blipFill>
          <a:blip r:embed="rId3"/>
          <a:srcRect l="14831" r="148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0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431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5334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Contributions, Limitations, and Development Roadmap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096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ANALYSIS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1968500"/>
            <a:ext cx="711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OBD-II Integration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static vehicle database vs. real-time engine load, RPM, throttle position data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Grid Factor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Indian electricity grid carbon intensity fixed at 0.716 kg CO₂/kWh; no state/time-of-day variation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Behaviour Quantification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driving coefficient from speed differential only; no smartphone IMU accelerometer data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On-Device LLM Capability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MediaPipe Gemma provides basic Q&amp;A but lacks parametric knowledge of full cloud models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Development Roadmap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1968500"/>
            <a:ext cx="711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OBD-II Bluetooth Fusion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RFCOMM protocol for real-time engine parameters; accuracy ±15% →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±5%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 Management Module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multi-user backend (Firebase/PostgreSQL) for aggregating driver emission profiles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Federated Learning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personalise driving/terrain multipliers from historical trip data, preserving privacy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VAHAN / FASTag Integration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automatic vehicle parameter lookup by registration number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7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Credit Gamification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convert kg CO₂ saved into equivalent carbon credits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66040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EcoDrive successfully demonstrates a </a:t>
            </a:r>
            <a:r>
              <a:rPr lang="en-US" sz="16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physics-grounded, AI-augmented mobile application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real-time vehicular CO₂ emission estimation. The system integrates deterministic vehicle dynamics, Monte Carlo probabilistic simulation, real-time GPS/weather telemetry, and a dual-tier LLM architecture — all within a single Android application targeting the Indian automotive context.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8763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6 — Conclusion &amp; Future 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B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gey7vu6dyf62/mnt/agents/output/ecodrive_ppt/images/2_Electric_car_and_ev_car_charging.png"/>
          <p:cNvPicPr>
            <a:picLocks noChangeAspect="1"/>
          </p:cNvPicPr>
          <p:nvPr/>
        </p:nvPicPr>
        <p:blipFill>
          <a:blip r:embed="rId3"/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628">
                  <a:alpha val="95000"/>
                </a:srgbClr>
              </a:gs>
              <a:gs pos="50000">
                <a:srgbClr val="0A1628">
                  <a:alpha val="80000"/>
                </a:srgbClr>
              </a:gs>
              <a:gs pos="100000">
                <a:srgbClr val="0A1628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286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kern="0" spc="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429000"/>
            <a:ext cx="2540000" cy="38100"/>
          </a:xfrm>
          <a:prstGeom prst="rect">
            <a:avLst/>
          </a:prstGeom>
          <a:solidFill>
            <a:srgbClr val="2E7D4A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810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13000" y="4699000"/>
            <a:ext cx="1143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Contributions of This Project: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Multi-fuel physics engine (Petrol, Diesel, CNG, EV) under unified force-energy-emission framework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ML telemetry fusion with Monte Carlo 90% confidence intervals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Dual-LLM architecture: on-device MediaPipe GenAI + cloud Gemini/Claude fallback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Complete Android app: GPS tracking, route comparison, trip history, PDF reports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8000" y="6985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78000" y="7429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CPCB, "Air Quality Index – Annual Report," 2023. [2] ARAI, "Emission Factors for Indian Vehicles – BS-VI," TR-2022-47, 2022.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SIAM, "Indian Automobile Industry Data," 2024. [4] EEA, "COPERT v5.6," 2023. [5] Google, "MediaPipe LLM Inference API," 2024.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OSRM, "Open Source Routing Machine v5.x," 2024. [7] OpenWeatherMap, "Current Weather API v2.5," 2024.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Android Developers, "Room Persistence Library," 2024. [9] MPAndroidChart v3.1.0. [10] CEA, "CO₂ Baseline Database v18," 2023.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2990</Words>
  <Application>Microsoft Office PowerPoint</Application>
  <PresentationFormat>Custom</PresentationFormat>
  <Paragraphs>416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QuattrocentoSans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EcoDrive — AI-Powered Vehicle Emissions Estimation and Eco-Driving Recommendation System</dc:title>
  <dc:subject>EcoDrive — AI-Powered Vehicle Emissions Estimation and Eco-Driving Recommendation System</dc:subject>
  <dc:creator>Kimi</dc:creator>
  <cp:lastModifiedBy>Arin Bansal</cp:lastModifiedBy>
  <cp:revision>4</cp:revision>
  <dcterms:created xsi:type="dcterms:W3CDTF">2026-05-05T07:29:14Z</dcterms:created>
  <dcterms:modified xsi:type="dcterms:W3CDTF">2026-05-07T05:26:13Z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{"Label":"EcoDrive — AI-Powered Vehicle Emissions Estimation and Eco-Driving Recommendation System","ContentProducer":"001191110108MACG2KBH8F10000","ProduceID":"19df6e31-6d02-84ea-8000-00009250d773","ReservedCode1":"","ContentPropagator":"001191110108MACG2KBH8F20000","PropagateID":"19df6e31-6d02-84ea-8000-00009250d773","ReservedCode2":""}</vt:lpwstr>
  </property>
</Properties>
</file>